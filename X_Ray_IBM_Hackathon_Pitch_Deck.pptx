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developer changes one function. The tests pass. The pull request is approved. And then production breaks somewhere they never knew was connected.</a:t>
            </a:r>
          </a:p>
          <a:p/>
          <a:p>
            <a:r>
              <a:t>We built X-Ray to answer one question before that merge happens: what will this change affect?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moment every developer has lived through: a single line change in a service that seems completely safe.</a:t>
            </a:r>
          </a:p>
          <a:p/>
          <a:p>
            <a:r>
              <a:t>The tests passed. The linter passed. But 15 minutes after deployment, payment processing failed because an indirect caller wasn't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question every engineer asks before clicking merge. And today, our workflow ends in one thing: hope.</a:t>
            </a:r>
          </a:p>
          <a:p/>
          <a:p>
            <a:r>
              <a:t>Hope that tests catch it. Hope that the code reviewer noticed it. X-Ray turns that hope into concrete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X-Ray is built on three simple principles: See, Trace, and Act. It doesn't attempt to replace developers with autonomous code writers.</a:t>
            </a:r>
          </a:p>
          <a:p/>
          <a:p>
            <a:r>
              <a:t>It acts as an architectural radar, giving developers total visibility before they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don't ask the developer to manually map the architecture. X-Ray builds it directly from the repository.</a:t>
            </a:r>
          </a:p>
          <a:p/>
          <a:p>
            <a:r>
              <a:t>Here you see 233 nodes and 410 edges discovered automatically in our sample Python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250-node graph is visually overwhelming. But with X-Ray's 1-Click Hierarchy Tree, developers instantly isolate a target component.</a:t>
            </a:r>
          </a:p>
          <a:p/>
          <a:p>
            <a:r>
              <a:t>Here, get_db is centered as the hero node, and all 54 callers fan out upward in golden-ratio tiered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X-Ray isn't a passive code viewer. When a developer creates a PR, X-Ray parses the unified git diff, identifies the exact modified AST symbols, and lights up the downstream blast radius.</a:t>
            </a:r>
          </a:p>
          <a:p/>
          <a:p>
            <a:r>
              <a:t>It outputs the exact targeted pytest command so developers don't have to wait 20 minutes for a full CI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Developers can type any planned refactoring into X-Ray. Watsonx Granite reads the grounded AST callers and explains the hidden architectural consequences before a single line of code is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don't ask an LLM to guess the dependency graph. Our deterministic engine maps the exact mathematical truth with zero hallucination.</a:t>
            </a:r>
          </a:p>
          <a:p/>
          <a:p>
            <a:r>
              <a:t>Then, IBM watsonx Granite interprets the evidence and helps developers act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developer tools only tell you what is broken and walk away. X-Ray goes a step further: it auto-generates the complete, runnable pytest suite using IBM Bob 2.0 and Watsonx Granite.</a:t>
            </a:r>
          </a:p>
          <a:p/>
          <a:p>
            <a:r>
              <a:t>Detect -&gt; Explain -&gt; Generate -&gt;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X-Ray delivers concrete engineering value: developers spend less time investigating dependencies, code reviews become faster, and production releases become predictable.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Linters check syntax. Code search finds text. Generic AI writes code. X-Ray is the first tool that combines repository structure, Git diff analysis, and grounded AI into a unified safety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vision is to make X-Ray a ubiquitous safety net across the entire software development lifecycle—from the developer's IDE to the GitHub pull request gatekeeper.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changes every day. Understanding their impact shouldn't be a guessing game.</a:t>
            </a:r>
          </a:p>
          <a:p/>
          <a:p>
            <a:r>
              <a:t>X-Ray: See the impact before you change the code.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IBM BOB 2.0  ×  IBM WATSONX.AI  ×  DEVELOPER WORKFLOW INTELLIGENCE</a:t>
            </a:r>
          </a:p>
          <a:p>
            <a:pPr algn="ctr">
              <a:spcAft>
                <a:spcPts val="400"/>
              </a:spcAft>
              <a:defRPr sz="5600" b="1">
                <a:solidFill>
                  <a:srgbClr val="F3F4F6"/>
                </a:solidFill>
                <a:latin typeface="Segoe UI"/>
              </a:defRPr>
            </a:pPr>
            <a:r>
              <a:t>X-Ray</a:t>
            </a:r>
          </a:p>
          <a:p>
            <a:pPr algn="ctr">
              <a:spcAft>
                <a:spcPts val="200"/>
              </a:spcAft>
              <a:defRPr sz="2200" b="1">
                <a:solidFill>
                  <a:srgbClr val="22D3EE"/>
                </a:solidFill>
                <a:latin typeface="Segoe UI"/>
              </a:defRPr>
            </a:pPr>
            <a:r>
              <a:t>See the impact before you change the code.</a:t>
            </a:r>
          </a:p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Never merge code in the dark again.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3744" y="2615184"/>
            <a:ext cx="7141464" cy="3822191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1_hook_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651760"/>
            <a:ext cx="7068312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THE DEVELOPER DILEMMA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The Code Changed Here. The Bug Appeared There.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single line refactor in authentication silently ripples across downstream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02336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01 // THE LOCAL REFACTOR</a:t>
            </a:r>
          </a:p>
          <a:p>
            <a:pPr>
              <a:spcAft>
                <a:spcPts val="1000"/>
              </a:spcAft>
              <a:defRPr sz="1500" b="1">
                <a:solidFill>
                  <a:srgbClr val="F3F4F6"/>
                </a:solidFill>
                <a:latin typeface="Consolas"/>
              </a:defRPr>
            </a:pPr>
            <a:r>
              <a:t>auth_service.py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651760"/>
            <a:ext cx="4572000" cy="164592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class AuthService:</a:t>
            </a:r>
            <a:br/>
            <a:r>
              <a:t>    # Updating token verification contract</a:t>
            </a:r>
            <a:br/>
            <a:r>
              <a:t>-   def authenticate(self, user):</a:t>
            </a:r>
            <a:br/>
            <a:r>
              <a:t>+   def authenticate(self, user, token_v2):</a:t>
            </a:r>
            <a:br/>
            <a:r>
              <a:t>     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C55E"/>
                </a:solidFill>
                <a:latin typeface="Segoe UI"/>
              </a:defRPr>
            </a:pPr>
            <a:r>
              <a:t>✓  Unit tests passed for auth_service.py</a:t>
            </a:r>
          </a:p>
          <a:p>
            <a:pPr>
              <a:spcAft>
                <a:spcPts val="400"/>
              </a:spcAft>
              <a:defRPr sz="1200">
                <a:solidFill>
                  <a:srgbClr val="22C55E"/>
                </a:solidFill>
                <a:latin typeface="Segoe UI"/>
              </a:defRPr>
            </a:pPr>
            <a:r>
              <a:t>✓  Linter passed with 0 errors</a:t>
            </a:r>
          </a:p>
          <a:p>
            <a:pPr>
              <a:defRPr sz="1200">
                <a:solidFill>
                  <a:srgbClr val="22C55E"/>
                </a:solidFill>
                <a:latin typeface="Segoe UI"/>
              </a:defRPr>
            </a:pPr>
            <a:r>
              <a:t>✓  Pull Request reviewed &amp; merged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02336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02 // THE UNSEEN BLAST RADIUS</a:t>
            </a:r>
          </a:p>
          <a:p>
            <a:pPr>
              <a:spcAft>
                <a:spcPts val="1200"/>
              </a:spcAft>
              <a:defRPr sz="1500" b="1">
                <a:solidFill>
                  <a:srgbClr val="F3F4F6"/>
                </a:solidFill>
                <a:latin typeface="Segoe UI"/>
              </a:defRPr>
            </a:pPr>
            <a:r>
              <a:t>Hidden Dependency Ripple</a:t>
            </a:r>
          </a:p>
          <a:p>
            <a:pPr>
              <a:spcAft>
                <a:spcPts val="600"/>
              </a:spcAft>
              <a:defRPr sz="1100">
                <a:solidFill>
                  <a:srgbClr val="F59E0B"/>
                </a:solidFill>
                <a:latin typeface="Segoe UI"/>
              </a:defRPr>
            </a:pPr>
            <a:r>
              <a:t>•  Orders Service — Direct caller - expects v1 token parameter</a:t>
            </a:r>
          </a:p>
          <a:p>
            <a:pPr>
              <a:spcAft>
                <a:spcPts val="600"/>
              </a:spcAft>
              <a:defRPr sz="1100">
                <a:solidFill>
                  <a:srgbClr val="EF4444"/>
                </a:solidFill>
                <a:latin typeface="Segoe UI"/>
              </a:defRPr>
            </a:pPr>
            <a:r>
              <a:t>•  Payments Service — Indirect caller via Order checkout flow</a:t>
            </a:r>
          </a:p>
          <a:p>
            <a:pPr>
              <a:spcAft>
                <a:spcPts val="600"/>
              </a:spcAft>
              <a:defRPr sz="1100">
                <a:solidFill>
                  <a:srgbClr val="F59E0B"/>
                </a:solidFill>
                <a:latin typeface="Segoe UI"/>
              </a:defRPr>
            </a:pPr>
            <a:r>
              <a:t>•  Background Worker — Async job processing relies on session context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Notifications Engine — Transitive dependency on auth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572000"/>
            <a:ext cx="4663440" cy="1005840"/>
          </a:xfrm>
          <a:prstGeom prst="roundRect">
            <a:avLst/>
          </a:prstGeom>
          <a:solidFill>
            <a:srgbClr val="230C10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663440"/>
            <a:ext cx="4480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💥  PRODUCTION OUTAGE IN PAYMENTS</a:t>
            </a:r>
          </a:p>
          <a:p>
            <a:pPr>
              <a:defRPr sz="1000">
                <a:solidFill>
                  <a:srgbClr val="F3F4F6"/>
                </a:solidFill>
                <a:latin typeface="Segoe UI"/>
              </a:defRPr>
            </a:pPr>
            <a:r>
              <a:t>The hidden problem: Developers cannot see the full dependency chain before making the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F3F4F6"/>
                </a:solidFill>
                <a:latin typeface="Segoe UI"/>
              </a:defRPr>
            </a:pPr>
            <a:r>
              <a:t>“What happens if I change this?”</a:t>
            </a:r>
          </a:p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How 30 million developers try to answer this question today: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920240" cy="182880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01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Segoe UI"/>
              </a:defRPr>
            </a:pPr>
            <a:r>
              <a:t>SEARCH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Grep across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743200"/>
            <a:ext cx="1920240" cy="182880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9260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02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Segoe UI"/>
              </a:defRPr>
            </a:pPr>
            <a:r>
              <a:t>TRACE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Read import chains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743200"/>
            <a:ext cx="1920240" cy="182880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9260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03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Segoe UI"/>
              </a:defRPr>
            </a:pPr>
            <a:r>
              <a:t>GUESS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Mentally follow callers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743200"/>
            <a:ext cx="1920240" cy="182880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29260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04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Segoe UI"/>
              </a:defRPr>
            </a:pPr>
            <a:r>
              <a:t>TEST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Run existing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743200"/>
            <a:ext cx="1920240" cy="1828800"/>
          </a:xfrm>
          <a:prstGeom prst="roundRect">
            <a:avLst/>
          </a:prstGeom>
          <a:solidFill>
            <a:srgbClr val="280E1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9260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Consolas"/>
              </a:defRPr>
            </a:pPr>
            <a:r>
              <a:t>05</a:t>
            </a:r>
          </a:p>
          <a:p>
            <a:pPr>
              <a:spcAft>
                <a:spcPts val="400"/>
              </a:spcAft>
              <a:defRPr sz="1800" b="1">
                <a:solidFill>
                  <a:srgbClr val="EF4444"/>
                </a:solidFill>
                <a:latin typeface="Segoe UI"/>
              </a:defRPr>
            </a:pPr>
            <a:r>
              <a:t>HOPE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Hope nothing broke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029200"/>
            <a:ext cx="9448495" cy="109728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25780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Segoe UI"/>
              </a:defRPr>
            </a:pPr>
            <a:r>
              <a:t>X-Ray turns “HOPE” into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MEET X-RAY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A Software Change Impact Analyzer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Bridging deterministic code graph intelligence with IBM watsonx cognitive reasoning.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201168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01 // SEE</a:t>
            </a:r>
          </a:p>
          <a:p>
            <a:pPr>
              <a:spcAft>
                <a:spcPts val="600"/>
              </a:spcAft>
              <a:defRPr sz="1500" b="1">
                <a:solidFill>
                  <a:srgbClr val="F3F4F6"/>
                </a:solidFill>
                <a:latin typeface="Segoe UI"/>
              </a:defRPr>
            </a:pPr>
            <a:r>
              <a:t>Scan the Codebase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Extract complete AST graph: files, classes, functions, and import/call edges in milliseconds.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737360"/>
            <a:ext cx="3337560" cy="201168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92024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02 // TRACE</a:t>
            </a:r>
          </a:p>
          <a:p>
            <a:pPr>
              <a:spcAft>
                <a:spcPts val="600"/>
              </a:spcAft>
              <a:defRPr sz="1500" b="1">
                <a:solidFill>
                  <a:srgbClr val="F3F4F6"/>
                </a:solidFill>
                <a:latin typeface="Segoe UI"/>
              </a:defRPr>
            </a:pPr>
            <a:r>
              <a:t>Calculate Dependencies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Execute bi-directional multi-hop BFS to trace direct callers and downstream ripple effects.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737360"/>
            <a:ext cx="3337560" cy="201168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192024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03 // ACT</a:t>
            </a:r>
          </a:p>
          <a:p>
            <a:pPr>
              <a:spcAft>
                <a:spcPts val="600"/>
              </a:spcAft>
              <a:defRPr sz="1500" b="1">
                <a:solidFill>
                  <a:srgbClr val="F3F4F6"/>
                </a:solidFill>
                <a:latin typeface="Segoe UI"/>
              </a:defRPr>
            </a:pPr>
            <a:r>
              <a:t>Explain, Test &amp; Verify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IBM watsonx.ai Granite synthesizes architectural risks and generates runnable regression test suites.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2432304" cy="146304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F4F6"/>
                </a:solidFill>
                <a:latin typeface="Segoe UI"/>
              </a:defRPr>
            </a:pPr>
            <a:r>
              <a:t>AST Analysis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Parses Python AST syntax trees without executing runtime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3977639"/>
            <a:ext cx="2432304" cy="146304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411480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F4F6"/>
                </a:solidFill>
                <a:latin typeface="Segoe UI"/>
              </a:defRPr>
            </a:pPr>
            <a:r>
              <a:t>Blast Radius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Traces multi-hop callers, callees, and affected test suites.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977639"/>
            <a:ext cx="2432304" cy="146304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11480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F4F6"/>
                </a:solidFill>
                <a:latin typeface="Segoe UI"/>
              </a:defRPr>
            </a:pPr>
            <a:r>
              <a:t>Git Diff Intelligence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Maps unified git diff line changes to exact AST symbols.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3977639"/>
            <a:ext cx="2432304" cy="146304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411480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3F4F6"/>
                </a:solidFill>
                <a:latin typeface="Segoe UI"/>
              </a:defRPr>
            </a:pPr>
            <a:r>
              <a:t>AI Safety Layer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watsonx Granite synthesizes risk areas &amp; 1-click pytest suites.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D3EE"/>
                </a:solidFill>
                <a:latin typeface="Segoe UI"/>
              </a:defRPr>
            </a:pPr>
            <a:r>
              <a:t>“X-Ray doesn't replace developers. It gives them visibility before they make decisions.”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PRODUCT WOW #1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One Repository. One Living X-Ray.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Architecture discovered automatically from the codebase — 0 manual documentation.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700784"/>
            <a:ext cx="7205472" cy="4553712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9-27 133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713232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737360"/>
            <a:ext cx="3291840" cy="448056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DISCOVERED IN DEMO REPO</a:t>
            </a:r>
          </a:p>
          <a:p>
            <a:pPr>
              <a:spcAft>
                <a:spcPts val="200"/>
              </a:spcAft>
              <a:defRPr sz="1300" b="1">
                <a:solidFill>
                  <a:srgbClr val="F3F4F6"/>
                </a:solidFill>
                <a:latin typeface="Segoe UI"/>
              </a:defRPr>
            </a:pPr>
            <a:r>
              <a:t>① 233 Nodes &amp; 410 Edges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Files, classes, functions, and tests parsed into an interactive Cytoscape graph in &lt;300ms.</a:t>
            </a:r>
          </a:p>
          <a:p>
            <a:pPr>
              <a:spcAft>
                <a:spcPts val="200"/>
              </a:spcAft>
              <a:defRPr sz="1300" b="1">
                <a:solidFill>
                  <a:srgbClr val="F3F4F6"/>
                </a:solidFill>
                <a:latin typeface="Segoe UI"/>
              </a:defRPr>
            </a:pPr>
            <a:r>
              <a:t>② Multi-Hop Dependencies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Call, import, inheritance, and test coverage edges mapped automatically across modules.</a:t>
            </a:r>
          </a:p>
          <a:p>
            <a:pPr>
              <a:spcAft>
                <a:spcPts val="200"/>
              </a:spcAft>
              <a:defRPr sz="1300" b="1">
                <a:solidFill>
                  <a:srgbClr val="F3F4F6"/>
                </a:solidFill>
                <a:latin typeface="Segoe UI"/>
              </a:defRPr>
            </a:pPr>
            <a:r>
              <a:t>③ Git Churn Heatmap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Historical git commit frequency overlaid as a thermal layer to spot code hotspots.</a:t>
            </a:r>
          </a:p>
          <a:p>
            <a:pPr>
              <a:defRPr sz="1000">
                <a:solidFill>
                  <a:srgbClr val="22D3EE"/>
                </a:solidFill>
                <a:latin typeface="Segoe UI"/>
              </a:defRPr>
            </a:pPr>
            <a:r>
              <a:t>“We don't ask the developer to manually map the architecture. X-Ray builds it from the repository.”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PRODUCT WOW #2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From Hairball → Architecture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The graph isn't the product. Understanding the graph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926080" cy="448056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59E0B"/>
                </a:solidFill>
                <a:latin typeface="Consolas"/>
              </a:defRPr>
            </a:pPr>
            <a:r>
              <a:t>BEFORE // THE HAIRBALL</a:t>
            </a:r>
          </a:p>
          <a:p>
            <a:pPr>
              <a:spcAft>
                <a:spcPts val="800"/>
              </a:spcAft>
              <a:defRPr sz="1500" b="1">
                <a:solidFill>
                  <a:srgbClr val="F3F4F6"/>
                </a:solidFill>
                <a:latin typeface="Segoe UI"/>
              </a:defRPr>
            </a:pPr>
            <a:r>
              <a:t>Raw Force-Directed Chaos</a:t>
            </a:r>
          </a:p>
          <a:p>
            <a:pPr>
              <a:spcAft>
                <a:spcPts val="1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Graphs with 200+ nodes quickly become visual hairballs. Developers cannot isolate what calls what in a tangled cluster.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2560320" cy="237744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Consolas"/>
              </a:defRPr>
            </a:pPr>
            <a:r>
              <a:t>       ●</a:t>
            </a:r>
            <a:br/>
            <a:r>
              <a:t>   ╱ ╲ │ ╱ ╲</a:t>
            </a:r>
            <a:br/>
            <a:r>
              <a:t>  ╱╲ ╲│╱ ╱╲</a:t>
            </a:r>
            <a:br/>
            <a:r>
              <a:t> ╱ ╲╱ ╲ ╲ ╱</a:t>
            </a:r>
            <a:br/>
            <a:br/>
            <a:r>
              <a:t>[ Tangled Clusters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95344" y="1700784"/>
            <a:ext cx="7571231" cy="4553712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9-27 1331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737360"/>
            <a:ext cx="7498079" cy="4480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06240" y="2011680"/>
            <a:ext cx="3474720" cy="640080"/>
          </a:xfrm>
          <a:prstGeom prst="roundRect">
            <a:avLst/>
          </a:prstGeom>
          <a:solidFill>
            <a:srgbClr val="0B0F14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Segoe UI"/>
              </a:defRPr>
            </a:pPr>
            <a:r>
              <a:t>✦  54 Callers. One Click. Structured.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PULL REQUEST PRE-FLIGHT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Don't Ask “What Exists?” Ask “What Will Break?”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Real-time blast radius calculation on unified Git pull request diffs.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114800" cy="448056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PR IMPACT PIPELINE</a:t>
            </a:r>
          </a:p>
          <a:p>
            <a:pPr>
              <a:spcAft>
                <a:spcPts val="100"/>
              </a:spcAft>
              <a:defRPr sz="1200" b="1">
                <a:solidFill>
                  <a:srgbClr val="F3F4F6"/>
                </a:solidFill>
                <a:latin typeface="Segoe UI"/>
              </a:defRPr>
            </a:pPr>
            <a:r>
              <a:t>↓  Git Unified Diff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Parses modified hunks from git diff or PR.</a:t>
            </a:r>
          </a:p>
          <a:p>
            <a:pPr>
              <a:spcAft>
                <a:spcPts val="100"/>
              </a:spcAft>
              <a:defRPr sz="1200" b="1">
                <a:solidFill>
                  <a:srgbClr val="F3F4F6"/>
                </a:solidFill>
                <a:latin typeface="Segoe UI"/>
              </a:defRPr>
            </a:pPr>
            <a:r>
              <a:t>↓  Changed AST Symbol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Resolves lines to exact function `recommendation_engine`.</a:t>
            </a:r>
          </a:p>
          <a:p>
            <a:pPr>
              <a:spcAft>
                <a:spcPts val="100"/>
              </a:spcAft>
              <a:defRPr sz="1200" b="1">
                <a:solidFill>
                  <a:srgbClr val="F3F4F6"/>
                </a:solidFill>
                <a:latin typeface="Segoe UI"/>
              </a:defRPr>
            </a:pPr>
            <a:r>
              <a:t>↓  Direct Callers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5 downstream components directly call modified symbol.</a:t>
            </a:r>
          </a:p>
          <a:p>
            <a:pPr>
              <a:spcAft>
                <a:spcPts val="100"/>
              </a:spcAft>
              <a:defRPr sz="1200" b="1">
                <a:solidFill>
                  <a:srgbClr val="F3F4F6"/>
                </a:solidFill>
                <a:latin typeface="Segoe UI"/>
              </a:defRPr>
            </a:pPr>
            <a:r>
              <a:t>↓  Transitive Blast Radius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Multi-hop dependencies traced across files.</a:t>
            </a:r>
          </a:p>
          <a:p>
            <a:pPr>
              <a:spcAft>
                <a:spcPts val="100"/>
              </a:spcAft>
              <a:defRPr sz="1200" b="1">
                <a:solidFill>
                  <a:srgbClr val="F3F4F6"/>
                </a:solidFill>
                <a:latin typeface="Segoe UI"/>
              </a:defRPr>
            </a:pPr>
            <a:r>
              <a:t>↓  Verification Command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Generates targeted test command: pytest tests/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700784"/>
            <a:ext cx="6382512" cy="4553712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9-27 1333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30936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94960" y="2011680"/>
            <a:ext cx="3108960" cy="548640"/>
          </a:xfrm>
          <a:prstGeom prst="roundRect">
            <a:avLst/>
          </a:prstGeom>
          <a:solidFill>
            <a:srgbClr val="0B0F14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0574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Segoe UI"/>
              </a:defRPr>
            </a:pPr>
            <a:r>
              <a:t>Pre-Merge Blast Radius 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SCENARIO SIMULATION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Simulate the Change Before Making It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What-if blast radius forecasting powered by IBM watsonx.ai Granite.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TARGET COMPONENT: authenticate_user()  in  auth/service.py</a:t>
            </a:r>
          </a:p>
          <a:p>
            <a:pPr>
              <a:defRPr sz="1600" b="1">
                <a:solidFill>
                  <a:srgbClr val="F3F4F6"/>
                </a:solidFill>
                <a:latin typeface="Segoe UI"/>
              </a:defRPr>
            </a:pPr>
            <a:r>
              <a:t>WHAT IF: “Refactoring authentication contract to enforce OAuth2 JWT verification”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468880" cy="164592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  <a:latin typeface="Consolas"/>
              </a:defRPr>
            </a:pPr>
            <a:r>
              <a:t>DIRECT IMPACT</a:t>
            </a:r>
          </a:p>
          <a:p>
            <a:pPr>
              <a:spcAft>
                <a:spcPts val="40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t>5 Services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web_app, main, smart_playlists, db_store, downloader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2926080"/>
            <a:ext cx="2468880" cy="164592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30632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  <a:latin typeface="Consolas"/>
              </a:defRPr>
            </a:pPr>
            <a:r>
              <a:t>TRANSITIVE REACH</a:t>
            </a:r>
          </a:p>
          <a:p>
            <a:pPr>
              <a:spcAft>
                <a:spcPts val="400"/>
              </a:spcAft>
              <a:defRPr sz="1800" b="1">
                <a:solidFill>
                  <a:srgbClr val="F3F4F6"/>
                </a:solidFill>
                <a:latin typeface="Segoe UI"/>
              </a:defRPr>
            </a:pPr>
            <a:r>
              <a:t>14 Endpoints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Second-hop downstream consumers across 4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926080"/>
            <a:ext cx="2468880" cy="164592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30632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  <a:latin typeface="Consolas"/>
              </a:defRPr>
            </a:pPr>
            <a:r>
              <a:t>TEST COVERAGE</a:t>
            </a:r>
          </a:p>
          <a:p>
            <a:pPr>
              <a:spcAft>
                <a:spcPts val="400"/>
              </a:spcAft>
              <a:defRPr sz="1800" b="1">
                <a:solidFill>
                  <a:srgbClr val="F59E0B"/>
                </a:solidFill>
                <a:latin typeface="Segoe UI"/>
              </a:defRPr>
            </a:pPr>
            <a:r>
              <a:t>38% Covered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1 test suite covers 2 of 5 callers. 3 callers untested!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2926080"/>
            <a:ext cx="2468880" cy="164592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30632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4A3B8"/>
                </a:solidFill>
                <a:latin typeface="Consolas"/>
              </a:defRPr>
            </a:pPr>
            <a:r>
              <a:t>RISK AREAS</a:t>
            </a:r>
          </a:p>
          <a:p>
            <a:pPr>
              <a:spcAft>
                <a:spcPts val="400"/>
              </a:spcAft>
              <a:defRPr sz="1800" b="1">
                <a:solidFill>
                  <a:srgbClr val="EF4444"/>
                </a:solidFill>
                <a:latin typeface="Segoe UI"/>
              </a:defRPr>
            </a:pPr>
            <a:r>
              <a:t>HIGH RISK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🔴 Payments  🟠 Orders  🟡 Background Workers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✦  IBM WATSONX.AI GRANITE 13B // GROUNDED RISK REASONING</a:t>
            </a:r>
          </a:p>
          <a:p>
            <a:pPr>
              <a:defRPr sz="1300">
                <a:solidFill>
                  <a:srgbClr val="F3F4F6"/>
                </a:solidFill>
                <a:latin typeface="Segoe UI"/>
              </a:defRPr>
            </a:pPr>
            <a:r>
              <a:t>“Payments indirectly depends on the current authentication session through OrderService. Modifying token verification without updating session expiration will cause checkout drops in mobile clients. Recommend adding backward-compatible token headers before migrating.”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TECHNICAL ARCHITECTURE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Two Engines. One Safety Layer.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Deterministic analysis finds the evidence. Granite explains and verifies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1645920"/>
            <a:ext cx="4114800" cy="54864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3F4F6"/>
                </a:solidFill>
                <a:latin typeface="Consolas"/>
              </a:defRPr>
            </a:pPr>
            <a:r>
              <a:t>CODEBASE REPOSITORY / GIT DIFF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120640" cy="292608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ENGINE 1 // DETERMINISTIC ANALYSIS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Python AST Syntax Parser — Extracts function, class, and import symbols with 0% AI hallucination.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NetworkX DiGraph Core — Stores directed multi-hop graph with degree &amp; centrality weighting.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Bi-Directional BFS Traversal — Calculates exact caller/callee blast radius in milliseconds.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Git Churn History Miner — Parses commit histories to identify code volatility hotspots.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23160"/>
            <a:ext cx="5120640" cy="292608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ENGINE 2 // IBM WATSONX.AI GRANITE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IBM Cloud watsonx.ai API — Enterprise API integration using ibm-watsonx-ai SDK.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ibm/granite-13b-chat-v2 — High-throughput foundational enterprise code &amp; chat model.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Grounded AST Prompts — Zero hallucination: injects actual callers, callees &amp; diff hunks.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 AST Synthesis Fallback — Graceful static synthesis ensures 100% uptime even if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698480" cy="86868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22D3EE"/>
                </a:solidFill>
                <a:latin typeface="Segoe UI"/>
              </a:defRPr>
            </a:pPr>
            <a:r>
              <a:t>X-RAY INSIGHT:  Deterministic Blast Radius  +  Granite Risk Explanation  +  1-Click Test Suites</a:t>
            </a:r>
          </a:p>
          <a:p>
            <a:pPr algn="ctr">
              <a:defRPr sz="1050">
                <a:solidFill>
                  <a:srgbClr val="F3F4F6"/>
                </a:solidFill>
                <a:latin typeface="Segoe UI"/>
              </a:defRPr>
            </a:pPr>
            <a:r>
              <a:t>Deterministic analysis finds the evidence. Granite explains the evidence and helps developers act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THE KILLER FEATURE // IBM BOB 2.0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X-Ray Doesn't Stop at “Warning.”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From detecting untested dependencies to auto-generating executable pytest suites in 1 click.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114800" cy="448056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59E0B"/>
                </a:solidFill>
                <a:latin typeface="Consolas"/>
              </a:defRPr>
            </a:pPr>
            <a:r>
              <a:t>01 // THE PROBLEM DETECTED</a:t>
            </a:r>
          </a:p>
          <a:p>
            <a:pPr>
              <a:spcAft>
                <a:spcPts val="800"/>
              </a:spcAft>
              <a:defRPr sz="1600" b="1">
                <a:solidFill>
                  <a:srgbClr val="F3F4F6"/>
                </a:solidFill>
                <a:latin typeface="Segoe UI"/>
              </a:defRPr>
            </a:pPr>
            <a:r>
              <a:t>⚠️ Untested Dependencies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3 downstream components depend on the modified code but have 0% test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566160"/>
            <a:ext cx="3566160" cy="228600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Traditional Tools Stop Here: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Linters show a warning and walk away.</a:t>
            </a:r>
            <a:br/>
            <a:r>
              <a:t>• Developers must manually spend 45 minutes writing fixtures, mocks, and assert boilerplate.</a:t>
            </a:r>
            <a:br/>
            <a:r>
              <a:t>• Result: Tests never get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737360"/>
            <a:ext cx="6309360" cy="448056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02 // 1-CLICK TEST GENERATOR (IBM BOB 2.0 &amp; GRANITE)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468880"/>
            <a:ext cx="5760720" cy="256032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56032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# test_recommendation_engine.py - Generated by IBM watsonx Granite</a:t>
            </a:r>
            <a:br/>
            <a:r>
              <a:t>import pytest</a:t>
            </a:r>
            <a:br/>
            <a:r>
              <a:t>from unittest.mock import patch, MagicMock</a:t>
            </a:r>
            <a:br/>
            <a:br/>
            <a:r>
              <a:t>@pytest.fixture</a:t>
            </a:r>
            <a:br/>
            <a:r>
              <a:t>def mock_dependencies():</a:t>
            </a:r>
            <a:br/>
            <a:r>
              <a:t>    with patch('db_store.get_connection') as m_db:</a:t>
            </a:r>
            <a:br/>
            <a:r>
              <a:t>        yield {'db': m_db}</a:t>
            </a:r>
            <a:br/>
            <a:br/>
            <a:r>
              <a:t>def test_recommendation_happy_path(mock_dependencies):</a:t>
            </a:r>
            <a:br/>
            <a:r>
              <a:t>    # Happy path assertion on target contract...</a:t>
            </a:r>
            <a:br/>
            <a:br/>
            <a:r>
              <a:t>def test_invalid_token_exception():</a:t>
            </a:r>
            <a:br/>
            <a:r>
              <a:t>    with pytest.raises(AuthenticationError):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516636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✓ Fixtures  ✓ Mocks (@patch)  ✓ Happy Path  ✓ Edge Cases  ✓ Exceptions</a:t>
            </a:r>
          </a:p>
          <a:p>
            <a:pPr>
              <a:defRPr sz="1100">
                <a:solidFill>
                  <a:srgbClr val="22D3EE"/>
                </a:solidFill>
                <a:latin typeface="Consolas"/>
              </a:defRPr>
            </a:pPr>
            <a:r>
              <a:t>[ Copy Pytest Code ]      [ Download .py ]      [ Run: pytest tests/ -v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BUSINESS VALUE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One Workflow. Four Problems Removed.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Concrete, observable workflow acceleration across the development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365760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22D3EE"/>
                </a:solidFill>
                <a:latin typeface="Consolas"/>
              </a:defRPr>
            </a:pPr>
            <a:r>
              <a:t>01 // DEPENDENCY TRACING</a:t>
            </a:r>
          </a:p>
          <a:p>
            <a:pPr>
              <a:spcAft>
                <a:spcPts val="200"/>
              </a:spcAft>
              <a:defRPr sz="1000" b="1">
                <a:solidFill>
                  <a:srgbClr val="EF4444"/>
                </a:solidFill>
                <a:latin typeface="Segoe UI"/>
              </a:defRPr>
            </a:pPr>
            <a:r>
              <a:t>BEFORE X-RAY:</a:t>
            </a:r>
          </a:p>
          <a:p>
            <a:pPr>
              <a:spcAft>
                <a:spcPts val="1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Manually grep &amp; trace imports across dozens of files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WITH X-RAY:</a:t>
            </a:r>
          </a:p>
          <a:p>
            <a:pPr>
              <a:defRPr sz="1100" b="1">
                <a:solidFill>
                  <a:srgbClr val="F3F4F6"/>
                </a:solidFill>
                <a:latin typeface="Segoe UI"/>
              </a:defRPr>
            </a:pPr>
            <a:r>
              <a:t>Automatically map complete AST impact graph in milliseconds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737360"/>
            <a:ext cx="2468880" cy="365760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92024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22D3EE"/>
                </a:solidFill>
                <a:latin typeface="Consolas"/>
              </a:defRPr>
            </a:pPr>
            <a:r>
              <a:t>02 // BLAST RADIUS</a:t>
            </a:r>
          </a:p>
          <a:p>
            <a:pPr>
              <a:spcAft>
                <a:spcPts val="200"/>
              </a:spcAft>
              <a:defRPr sz="1000" b="1">
                <a:solidFill>
                  <a:srgbClr val="EF4444"/>
                </a:solidFill>
                <a:latin typeface="Segoe UI"/>
              </a:defRPr>
            </a:pPr>
            <a:r>
              <a:t>BEFORE X-RAY:</a:t>
            </a:r>
          </a:p>
          <a:p>
            <a:pPr>
              <a:spcAft>
                <a:spcPts val="1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Guess affected files and hope nothing broke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WITH X-RAY:</a:t>
            </a:r>
          </a:p>
          <a:p>
            <a:pPr>
              <a:defRPr sz="1100" b="1">
                <a:solidFill>
                  <a:srgbClr val="F3F4F6"/>
                </a:solidFill>
                <a:latin typeface="Segoe UI"/>
              </a:defRPr>
            </a:pPr>
            <a:r>
              <a:t>See exact direct and transitive multi-hop ripple effects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2468880" cy="365760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92024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22D3EE"/>
                </a:solidFill>
                <a:latin typeface="Consolas"/>
              </a:defRPr>
            </a:pPr>
            <a:r>
              <a:t>03 // TEST VERIFICATION</a:t>
            </a:r>
          </a:p>
          <a:p>
            <a:pPr>
              <a:spcAft>
                <a:spcPts val="200"/>
              </a:spcAft>
              <a:defRPr sz="1000" b="1">
                <a:solidFill>
                  <a:srgbClr val="EF4444"/>
                </a:solidFill>
                <a:latin typeface="Segoe UI"/>
              </a:defRPr>
            </a:pPr>
            <a:r>
              <a:t>BEFORE X-RAY:</a:t>
            </a:r>
          </a:p>
          <a:p>
            <a:pPr>
              <a:spcAft>
                <a:spcPts val="1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Run entire bloated mono-repo test suite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WITH X-RAY:</a:t>
            </a:r>
          </a:p>
          <a:p>
            <a:pPr>
              <a:defRPr sz="1100" b="1">
                <a:solidFill>
                  <a:srgbClr val="F3F4F6"/>
                </a:solidFill>
                <a:latin typeface="Segoe UI"/>
              </a:defRPr>
            </a:pPr>
            <a:r>
              <a:t>Identify and execute targeted test suites for modified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737360"/>
            <a:ext cx="2468880" cy="365760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92024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22D3EE"/>
                </a:solidFill>
                <a:latin typeface="Consolas"/>
              </a:defRPr>
            </a:pPr>
            <a:r>
              <a:t>04 // REGRESSION PREVENTION</a:t>
            </a:r>
          </a:p>
          <a:p>
            <a:pPr>
              <a:spcAft>
                <a:spcPts val="200"/>
              </a:spcAft>
              <a:defRPr sz="1000" b="1">
                <a:solidFill>
                  <a:srgbClr val="EF4444"/>
                </a:solidFill>
                <a:latin typeface="Segoe UI"/>
              </a:defRPr>
            </a:pPr>
            <a:r>
              <a:t>BEFORE X-RAY:</a:t>
            </a:r>
          </a:p>
          <a:p>
            <a:pPr>
              <a:spcAft>
                <a:spcPts val="1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Discover silent outages after code hits production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  <a:latin typeface="Segoe UI"/>
              </a:defRPr>
            </a:pPr>
            <a:r>
              <a:t>WITH X-RAY:</a:t>
            </a:r>
          </a:p>
          <a:p>
            <a:pPr>
              <a:defRPr sz="1100" b="1">
                <a:solidFill>
                  <a:srgbClr val="F3F4F6"/>
                </a:solidFill>
                <a:latin typeface="Segoe UI"/>
              </a:defRPr>
            </a:pPr>
            <a:r>
              <a:t>Review and fix risks before code is ever merged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77840"/>
            <a:ext cx="3337560" cy="82296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22D3EE"/>
                </a:solidFill>
                <a:latin typeface="Consolas"/>
              </a:defRPr>
            </a:pPr>
            <a:r>
              <a:t>DEVELOPER OUTCOME</a:t>
            </a:r>
          </a:p>
          <a:p>
            <a:pPr>
              <a:defRPr sz="1100">
                <a:solidFill>
                  <a:srgbClr val="F3F4F6"/>
                </a:solidFill>
                <a:latin typeface="Segoe UI"/>
              </a:defRPr>
            </a:pPr>
            <a:r>
              <a:t>Dramatically less manual investigation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5577840"/>
            <a:ext cx="3337560" cy="82296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5650992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22D3EE"/>
                </a:solidFill>
                <a:latin typeface="Consolas"/>
              </a:defRPr>
            </a:pPr>
            <a:r>
              <a:t>ENGINEERING OUTCOME</a:t>
            </a:r>
          </a:p>
          <a:p>
            <a:pPr>
              <a:defRPr sz="1100">
                <a:solidFill>
                  <a:srgbClr val="F3F4F6"/>
                </a:solidFill>
                <a:latin typeface="Segoe UI"/>
              </a:defRPr>
            </a:pPr>
            <a:r>
              <a:t>Significantly reduced regression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5577840"/>
            <a:ext cx="3337560" cy="82296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5650992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22D3EE"/>
                </a:solidFill>
                <a:latin typeface="Consolas"/>
              </a:defRPr>
            </a:pPr>
            <a:r>
              <a:t>BUSINESS OUTCOME</a:t>
            </a:r>
          </a:p>
          <a:p>
            <a:pPr>
              <a:defRPr sz="1100">
                <a:solidFill>
                  <a:srgbClr val="F3F4F6"/>
                </a:solidFill>
                <a:latin typeface="Segoe UI"/>
              </a:defRPr>
            </a:pPr>
            <a:r>
              <a:t>Safer, faster, and more predictable software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COMPETITIVE POSITIONING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Where X-Ray Fits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factual positioning matrix across the modern developer toolchain.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2011680"/>
                <a:gridCol w="2133295"/>
              </a:tblGrid>
              <a:tr h="49149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3F4F6"/>
                          </a:solidFill>
                          <a:latin typeface="Consolas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F4F6"/>
                          </a:solidFill>
                          <a:latin typeface="Consolas"/>
                        </a:defRPr>
                      </a:pPr>
                      <a:r>
                        <a:t>LINTERS (SonarQube)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F4F6"/>
                          </a:solidFill>
                          <a:latin typeface="Consolas"/>
                        </a:defRPr>
                      </a:pPr>
                      <a:r>
                        <a:t>CODE SEARCH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3F4F6"/>
                          </a:solidFill>
                          <a:latin typeface="Consolas"/>
                        </a:defRPr>
                      </a:pPr>
                      <a:r>
                        <a:t>GENERIC AI (Copilot)</a:t>
                      </a:r>
                    </a:p>
                  </a:txBody>
                  <a:tcPr>
                    <a:solidFill>
                      <a:srgbClr val="0E14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X-RAY</a:t>
                      </a:r>
                    </a:p>
                  </a:txBody>
                  <a:tcPr>
                    <a:solidFill>
                      <a:srgbClr val="0E2D3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Repository Search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✓ (Text-based)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✓ (AST-indexed)</a:t>
                      </a:r>
                    </a:p>
                  </a:txBody>
                  <a:tcPr>
                    <a:solidFill>
                      <a:srgbClr val="10202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Structured Dependency Graph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Not deterministic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✓ (Full AST graph)</a:t>
                      </a:r>
                    </a:p>
                  </a:txBody>
                  <a:tcPr>
                    <a:solidFill>
                      <a:srgbClr val="10202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Multi-Hop Blast Radius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Not deterministic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✓ (Deterministic BFS)</a:t>
                      </a:r>
                    </a:p>
                  </a:txBody>
                  <a:tcPr>
                    <a:solidFill>
                      <a:srgbClr val="10202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Git Diff → Impact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Context dependent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✓ (Symbol-level)</a:t>
                      </a:r>
                    </a:p>
                  </a:txBody>
                  <a:tcPr>
                    <a:solidFill>
                      <a:srgbClr val="10202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1-Click Hierarchy Isolation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✓ (Structured Tree)</a:t>
                      </a:r>
                    </a:p>
                  </a:txBody>
                  <a:tcPr>
                    <a:solidFill>
                      <a:srgbClr val="10202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Grounded AI Explanation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Generic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✓ (IBM Granite 13B)</a:t>
                      </a:r>
                    </a:p>
                  </a:txBody>
                  <a:tcPr>
                    <a:solidFill>
                      <a:srgbClr val="10202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1-Click AI Test Generation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Generic templates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✓ (Grounded in AST)</a:t>
                      </a:r>
                    </a:p>
                  </a:txBody>
                  <a:tcPr>
                    <a:solidFill>
                      <a:srgbClr val="10202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Segoe UI"/>
              </a:defRPr>
            </a:pPr>
            <a:r>
              <a:t>X-Ray combines repository structure, change analysis and grounded AI into one developer workflow.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D3EE"/>
                </a:solidFill>
                <a:latin typeface="Segoe UI"/>
              </a:defRPr>
            </a:pPr>
            <a:r>
              <a:t>THE FUTURE ROADMAP</a:t>
            </a:r>
          </a:p>
          <a:p>
            <a:pPr>
              <a:spcAft>
                <a:spcPts val="200"/>
              </a:spcAft>
              <a:defRPr sz="2800" b="1">
                <a:solidFill>
                  <a:srgbClr val="F3F4F6"/>
                </a:solidFill>
                <a:latin typeface="Segoe UI"/>
              </a:defRPr>
            </a:pPr>
            <a:r>
              <a:t>From Analyzer → Developer Safety Network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Continuous software impact intelligence across the entire development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onsolas"/>
              </a:defRPr>
            </a:pPr>
            <a:r>
              <a:t>TODAY: Python Repositories   ──►   NEXT: GitHub PR Bot   ──►   NEXT: IDE X-Ray   ──►   NEXT: Multi-Language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337560" cy="393192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PR GUARDIAN</a:t>
            </a:r>
          </a:p>
          <a:p>
            <a:pPr>
              <a:spcAft>
                <a:spcPts val="1200"/>
              </a:spcAft>
              <a:defRPr sz="1600" b="1">
                <a:solidFill>
                  <a:srgbClr val="F3F4F6"/>
                </a:solidFill>
                <a:latin typeface="Segoe UI"/>
              </a:defRPr>
            </a:pPr>
            <a:r>
              <a:t>Continuous CI/CD Gatekeeper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Automatically comments visual blast radius diagrams directly on GitHub and GitLab pull requests. Blocks merges if high-risk paths lack test coverage.</a:t>
            </a:r>
          </a:p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✦  PLANNED EXTENSION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377440"/>
            <a:ext cx="3337560" cy="393192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6517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IDE X-RAY</a:t>
            </a:r>
          </a:p>
          <a:p>
            <a:pPr>
              <a:spcAft>
                <a:spcPts val="1200"/>
              </a:spcAft>
              <a:defRPr sz="1600" b="1">
                <a:solidFill>
                  <a:srgbClr val="F3F4F6"/>
                </a:solidFill>
                <a:latin typeface="Segoe UI"/>
              </a:defRPr>
            </a:pPr>
            <a:r>
              <a:t>Real-Time In-Editor Radar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VS Code &amp; JetBrains extension that highlights downstream caller impact live in the gutter while developers write code.</a:t>
            </a:r>
          </a:p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✦  PLANNED EXTENSION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2377440"/>
            <a:ext cx="3337560" cy="3931920"/>
          </a:xfrm>
          <a:prstGeom prst="roundRect">
            <a:avLst/>
          </a:prstGeom>
          <a:solidFill>
            <a:srgbClr val="11182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6517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t>MULTI-LANGUAGE</a:t>
            </a:r>
          </a:p>
          <a:p>
            <a:pPr>
              <a:spcAft>
                <a:spcPts val="1200"/>
              </a:spcAft>
              <a:defRPr sz="1600" b="1">
                <a:solidFill>
                  <a:srgbClr val="F3F4F6"/>
                </a:solidFill>
                <a:latin typeface="Segoe UI"/>
              </a:defRPr>
            </a:pPr>
            <a:r>
              <a:t>Polyglot AST Support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Extending the deterministic AST graph engine from Python to TypeScript/JavaScript, Go, and Java enterprise microservices.</a:t>
            </a:r>
          </a:p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✦  PLANNED EXTENSION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F3F4F6"/>
                </a:solidFill>
                <a:latin typeface="Segoe UI"/>
              </a:defRPr>
            </a:pPr>
            <a:r>
              <a:t>Software changes every day.</a:t>
            </a:r>
          </a:p>
          <a:p>
            <a:pPr algn="ctr">
              <a:spcAft>
                <a:spcPts val="2400"/>
              </a:spcAft>
              <a:defRPr sz="3200" b="1">
                <a:solidFill>
                  <a:srgbClr val="94A3B8"/>
                </a:solidFill>
                <a:latin typeface="Segoe UI"/>
              </a:defRPr>
            </a:pPr>
            <a:r>
              <a:t>Understanding their impact shouldn't be a guessing game.</a:t>
            </a:r>
          </a:p>
          <a:p>
            <a:pPr algn="ctr">
              <a:spcAft>
                <a:spcPts val="400"/>
              </a:spcAft>
              <a:defRPr sz="5000" b="1">
                <a:solidFill>
                  <a:srgbClr val="22D3EE"/>
                </a:solidFill>
                <a:latin typeface="Segoe UI"/>
              </a:defRPr>
            </a:pPr>
            <a:r>
              <a:t>X-Ray</a:t>
            </a:r>
          </a:p>
          <a:p>
            <a:pPr algn="ctr">
              <a:defRPr sz="2000">
                <a:solidFill>
                  <a:srgbClr val="F3F4F6"/>
                </a:solidFill>
                <a:latin typeface="Segoe UI"/>
              </a:defRPr>
            </a:pPr>
            <a:r>
              <a:t>See the impact before you change the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5303520"/>
            <a:ext cx="6705295" cy="731520"/>
          </a:xfrm>
          <a:prstGeom prst="roundRect">
            <a:avLst/>
          </a:prstGeom>
          <a:solidFill>
            <a:srgbClr val="080C10"/>
          </a:solidFill>
          <a:ln w="15240">
            <a:solidFill>
              <a:srgbClr val="263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5440680"/>
            <a:ext cx="6522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2D3EE"/>
                </a:solidFill>
                <a:latin typeface="Consolas"/>
              </a:defRPr>
            </a:pPr>
            <a:r>
              <a:t>IBM Bob 2.0  ×  watsonx.ai  ×  Granite   •   GitHub  •  Live Demo  •  Team X-Ray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